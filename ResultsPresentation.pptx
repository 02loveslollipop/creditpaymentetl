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D1AA79D-9301-4FA9-9F9A-66E2A11F2A0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10.763 créditos de consumo colombianos, año y medio de desembolsos.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Tasa de incumplimiento 4,75%: uno de cada veinte.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archivo llega sin diccionario de datos.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trabajo previo no fue modelar, fue establecer qué mide cada columna.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967F91-41CC-4D93-80FA-13FF3EAE8E9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23 columnas, sin diccionario de datos.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Mediana de 5 obligaciones abiertas por cliente; en el buró colombiano el 62% tiene dos o menos.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dataset potencialmente es un segmento pre-filtrado y con alta experiencia crediticia.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Eso condiciona todo lo demás: las señales débiles pueden serlo por el filtro, no por las variables.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OJO al leer la tabla: los rangos observados NO son el filtro. La columna Regla es el filtro.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puntaje_datacredito llega con −7 y 999, que son imposibles. La escala oficial es 150–950.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Las reglas se contrastaron con valores publicados del mercado colombiano, no se fijaron a ojo.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536D30-1767-45B8-B69D-EAD1106174C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puntaje es un score interno en escala nominal 0–100.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Correlación punto-biserial con el objetivo: 0,923. Es Pearson cuando una variable es dicotómica.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Ninguna otra variable del archivo pasa de |rho| = 0,11.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Franja vacía entre 62,67 y 63,81: cualquier umbral ahí clasifica el 100% de las 10.763 filas.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No es un corte bien elegido, es un corredor de cortes igualmente perfectos.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87% de la cartera está en un único valor repetido, 95,227787, y todos pagaron.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Dos lecturas: fuga de información, o un aproximador casi perfecto. Lo primero es lo probable.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Para decidirlo hay que saber si la variable se genera antes o después de conocer el resultado.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contexto regulatorio lo explica: la SFC exige evaluar riesgo en originación y durante la vida del crédito.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95A0E3-BA9C-4711-825E-55D307C29E1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puntaje_datacredito: escala oficial 150–950. Mediana 792, RIC 758 a 826.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puntaje de DataCrédito desciende con un comportamiento monotónico: 70,0% -&gt; 15,4% -&gt; 7,9% -&gt; 3,7%.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Correlación de rangos con el objetivo: +0,091. Sólida estadísticamente, modesta en magnitud.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Izquierda: las dos clases se solapan entre 287 y 922, o sea el 99,7% de los créditos calificados.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Compárese con la lámina anterior: allá no había ningún traslape, aquí se solapan casi por completo.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Un score que predice produce una rampa. Uno que ya conoce el resultado produce un muro.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Las dos barras rayadas se apoyan en 20 y 13 créditos: la dirección es real, la altura exacta no.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Mediana 792 sobre 950 indica que el originador ya filtra con dureza por buró.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33D70F-0524-43D3-8479-FDD333888CE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 puntaje fuera una recalibración del score de buró, la nube tendría una diagonal.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 recta punteada es dónde caerían si ambos ordenaran el mismo riesgo sobre sus escalas declaradas.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Está anclada en las escalas oficiales, no ajustada a la muestra: es referencia, no modelo.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Ningún tramo de la nube la sigue. Correlación de rangos entre ambos: 0,118 sobre 10.612 filas.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Los 1.777 clientes con buró entre 790 y 810 tienen prácticamente el mismo riesgo según el buró.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En ese grupo puntaje toma todos los valores entre −21,9 y 95,2.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 línea del centinela recorre todo el rango del buró y la nube inferior ocupa ese mismo rango.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 partición que decide el resultado no la explica el riesgo del buró: la explica el resultado.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6CEF002-1D67-4EA4-80B7-3B517EE91A9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salario_cliente vs saldo_total tienen la mayor diferencia entre correlación lineal y monotónica.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 = 0,005 contra rho = 0,445.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Analizando solo con Pearson se habrían botado todas las variables derivadas del salario.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 causa: unos pocos salarios declarados de hasta 22.000 millones, que son errores de unidad.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Pearson se calcula sobre desviaciones al cuadrado, así que una docena de outliers domina el coeficiente.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salario declarado mediano es de 3 millones: los extremos no son clientes ricos.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Diez de los doce pares con mayor diferencia comparten la misma forma.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caso inverso también diagnostica: puntaje × Pago_atiempo da r = 0,923 pero rho = 0,639.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Ahí la relación es un escalón y los rangos dentro del bloque centinela son empates arbitrarios.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62A17D-86CF-493C-8385-CA41E6B3F86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Los saldos del buró vienen en miles de pesos y nada en el archivo lo declara.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 prueba es interna, no depende de ninguna referencia externa.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Los 402 clientes con una sola obligación abierta: su saldo del buró tiene que ser este crédito.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Como viene el archivo, capital/saldo da 1.338. Dividido por mil da 1,34, que es lo esperable.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Antes de reparar escalas la mediana de la mora eran 236, ahora son 236.000 para ese grupo.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236 pesos parecían ruido despreciable; 236.000 es un vencido real.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error no produce faltantes ni viola rangos: solo se detecta contra magnitudes esperadas.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Ya había corrompido variables derivadas antes de encontrarlo.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F4C01A-86A5-4728-B465-8C02795BE28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Los originadores colombianos limitan la carga financiera entre 30% y 40% del ingreso.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cliente mediano de esta cartera está en 42%, justo por fuera de la banda.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Pero la carga financiera no separa a los que incumplen.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 banda nominalmente ideal, por debajo del 30%, tiene la tasa más alta: 6,0%.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 banda por encima del 60% tiene la segunda más baja: 3,9%. El orden está invertido.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Explicación probable: selección. El originador ya evalúa capacidad de pago.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Quien declara poca deuda puede ser quien tiene una vida financiera más delgada y menos verificable.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F1087A-C11C-475C-87B6-A5D191EF6D5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Clientes con saldo en mora en otra entidad: 36,4% de incumplimiento contra 4,6% del resto.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7,7 veces la tasa de la cartera. Fisher exacto, p del orden de 10 a la −13.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Son solo 55 créditos, el 0,51% de la cartera, y concentran el 3,91% de los incumplimientos.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No necesita modelo: el dato ya está en el buró al momento de la solicitud.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Por qué son tan pocos: por la Ley 2157 la información negativa permanece años en el archivo.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Es decir, el originador YA filtra por aquí. Los 55 que pasaron son excepciones a una política.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 regla vale la pena aplicarla de forma consistente más que descubrirla.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Esta variable se verá mucho más débil en una población que no haya sido pre-filtrada así.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BB7B99-1072-4126-B456-02E2BCC8ECD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Variable construida: huella_consulta dividida por cuentas abiertas más uno.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Los dos deciles más altos incumplen al 7,8% contra 2,8% en los tres más bajos. Factor 2,8.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 lee sola: un cliente que genera consultas que no se convierten en aprobaciones es un cliente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al que le están negando crédito en otra parte.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DataCrédito dice explícitamente que las huellas de consulta NO entran en su score.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Por eso esta variable aporta información que el score del buró no puede contener.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Los datos lo confirman: correlacionan apenas en −0,18.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 huella dura seis meses: es intensidad reciente de búsqueda por cuenta ya poseída.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Honestidad: la subida no es estrictamente monótona. El decil 1 está por encima del 2.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711233-99FA-4748-A0F5-41D53D28C8D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Ninguna variable individual es fuerte una vez retirado puntaje: la mejor da |rho| = 0,11.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Cuatro señales sin fuga: intensidad de consulta, score de buró bajo, ingreso no corroborado, mora.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Convertidas a percentiles y promediadas con pesos iguales.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Separan de 1,9% en el decil más seguro a 11,2% en el más riesgoso: más del doble de la tasa base.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En términos operativos: 2.153 de 10.763 solicitudes revisadas alcanzan el 38% de los incumplimientos.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Extendiendo a 4.305 solicitudes se llega al 65%.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2.153 en dieciocho meses son unas 28 por semana: una pregunta de capacidad, no una cifra abstracta.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DECIRLO SIN QUE LO PREGUNTEN: esto no es un modelo. Pesos iguales, medido en la misma muestra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que las sugirió, sin partición de entrenamiento y prueba y sin calibración.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9420E0-3184-4065-9FF5-B9B93A3E6AD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puntaje: fuga. Se deja en el archivo pero excluida del ranking y del conjunto de modelado.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 exclusión se verifica con una aserción, no se supone.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saldo_mora_codeudor: solo 3 valores distintos de cero en 10.173. El producto no usa codeudor.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saldo_principal: correlaciona 0,946 con saldo_total, idénticos en el 84%. La diferencia es interés causado.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n_reglas_violadas: daba −0,287, la señal más fuerte después de puntaje. Era espuria.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Una de las reglas acota puntaje a [0,100] y las 135 filas que la violan son todas incumplimientos.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contador estaba lavando la fuga a través de un agregado de apariencia inocente.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Reconstruida solo con reglas limpias cae a −0,008, indistinguible de cero.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2FBCBD-17CA-4BD2-9A39-111099B4D56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dataset potencialmente es un segmento pre-filtrado y con alta experiencia crediticia.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Mediana de 5 obligaciones abiertas; en el buró colombiano el 62% tiene dos o menos.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Mediana del score de buró 792: el originador ya filtra con dureza.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Por eso las señales débiles pueden serlo por el filtro y no por las variables.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Las tres columnas de sector suman menos que el total de cuentas en el 71% de las filas.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Faltante mediano de dos cuentas, y nunca lo exceden: falta casi seguro telecomunicaciones y fintech.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Y no sabemos cómo se define Pago_atiempo ni en qué momento queda fija.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De eso depende si las cohortes recientes son usables.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9EFD74-E5B8-4E04-AE71-36736585EED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El hallazgo dominante es negativo: la columna más predictiva no se puede usar.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Segundo: una columna no significaba lo que decía su nombre, invisible a las verificaciones habituales.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Tercero: las señales limpias combinadas dan una banda con más del doble de la tasa base.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Suficiente para justificar un modelo validado, no para citar el 38% como pronóstico.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Para modelar: partición por fecha de desembolso, no aleatoria.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PR-AUC o recall a precisión fija, nunca accuracy: predecir la clase mayoritaria ya acierta 95,25%.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700"/>
              </a:spcAft>
              <a:buNone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Excluir puntaje y todo lo derivado de ella, verificado con aserción y no supuesto.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EE38E9-E30D-4402-8152-D50C0682C61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FB8949-1B8C-4673-AE2E-1DEDE65EF3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3B062A-99DF-4116-93B8-9AF8DACBFF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8C38472-D00D-43A7-9CEC-D0AA9F1387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F68941D-A08F-4ED3-88B2-8E61CAC715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72613B6-E980-4AB6-A2CE-6A648D9CC2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3C3D490-506B-4AAE-A719-B90727F43F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F80C834-8B7F-4DEA-A545-4638456D28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171977C-84A8-4D4A-AC42-0866C2EFA5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1B62217-B772-4757-86F4-4C400E1D51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0475A8E-3E89-4FB0-A259-69842AC4CE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7DAFC09-F2D1-4521-9439-6456842C0B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A45860-03F7-4281-8C0D-F7D8EFFD426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14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25F4D2-8B1E-4222-B3C9-6B98BFD7B4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C3B233-50E2-47A8-9E37-1682A0C7B3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EF6F41-2F25-4B91-94F1-11B4A82BE6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B9EB7B-998B-4BAB-84E1-BFC316BF3E6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1A5132-0DE4-4D35-AACA-0972BEF891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FD0DC-FA7B-4984-9BBA-FF57245488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3C37B2-3FA9-49CF-8CF8-D203E07A16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E3E9D8-631C-4292-B66E-141F9AAC6B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669AF3-1F08-4F86-8315-C5401E7024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D40A34-0F80-4300-AA66-089F078235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2194560"/>
            <a:ext cx="12191400" cy="2194200"/>
          </a:xfrm>
          <a:prstGeom prst="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822960" y="2395800"/>
            <a:ext cx="1060668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Cartera de consumo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Mateo Monsalve Valencia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EL DATASET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57200" y="1278360"/>
            <a:ext cx="265140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5000" spc="-1" strike="noStrike">
                <a:solidFill>
                  <a:srgbClr val="2f6fb5"/>
                </a:solidFill>
                <a:latin typeface="Calibri"/>
              </a:rPr>
              <a:t>10.763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784"/>
                </a:solidFill>
                <a:latin typeface="Calibri"/>
              </a:rPr>
              <a:t>créditos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3346560" y="1278360"/>
            <a:ext cx="265140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5000" spc="-1" strike="noStrike">
                <a:solidFill>
                  <a:srgbClr val="1f2933"/>
                </a:solidFill>
                <a:latin typeface="Calibri"/>
              </a:rPr>
              <a:t>23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784"/>
                </a:solidFill>
                <a:latin typeface="Calibri"/>
              </a:rPr>
              <a:t>columnas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6236280" y="1278360"/>
            <a:ext cx="265140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5000" spc="-1" strike="noStrike">
                <a:solidFill>
                  <a:srgbClr val="c44e52"/>
                </a:solidFill>
                <a:latin typeface="Calibri"/>
              </a:rPr>
              <a:t>4,75%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784"/>
                </a:solidFill>
                <a:latin typeface="Calibri"/>
              </a:rPr>
              <a:t>incumplimiento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9125640" y="1278360"/>
            <a:ext cx="2651400" cy="11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5000" spc="-1" strike="noStrike">
                <a:solidFill>
                  <a:srgbClr val="3f8f5a"/>
                </a:solidFill>
                <a:latin typeface="Calibri"/>
              </a:rPr>
              <a:t>5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6b7784"/>
                </a:solidFill>
                <a:latin typeface="Calibri"/>
              </a:rPr>
              <a:t>obligaciones / cliente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0" name="Table 6"/>
          <p:cNvGraphicFramePr/>
          <p:nvPr/>
        </p:nvGraphicFramePr>
        <p:xfrm>
          <a:off x="457200" y="3063240"/>
          <a:ext cx="11274120" cy="2194200"/>
        </p:xfrm>
        <a:graphic>
          <a:graphicData uri="http://schemas.openxmlformats.org/drawingml/2006/table">
            <a:tbl>
              <a:tblPr/>
              <a:tblGrid>
                <a:gridCol w="4937760"/>
                <a:gridCol w="2377440"/>
                <a:gridCol w="2377440"/>
                <a:gridCol w="1581840"/>
              </a:tblGrid>
              <a:tr h="43884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Observado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Regla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OOR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3884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salario_cliente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 – 22.000 M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[10⁶, 10⁸]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186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edad_cliente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19 – 123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[18, 90]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150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3884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total_otros_prestamos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 – 6.788 M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[0, 5×10⁸]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22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884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puntaje_datacredito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7 – 999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[150, 950]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PUNTAJE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Picture 2" descr="01_leakage_score_distribution.png"/>
          <p:cNvPicPr/>
          <p:nvPr/>
        </p:nvPicPr>
        <p:blipFill>
          <a:blip r:embed="rId1"/>
          <a:stretch/>
        </p:blipFill>
        <p:spPr>
          <a:xfrm>
            <a:off x="0" y="1143000"/>
            <a:ext cx="10553760" cy="5715000"/>
          </a:xfrm>
          <a:prstGeom prst="rect">
            <a:avLst/>
          </a:prstGeom>
          <a:ln w="0">
            <a:noFill/>
          </a:ln>
        </p:spPr>
      </p:pic>
      <p:sp>
        <p:nvSpPr>
          <p:cNvPr id="83" name="TextBox 4"/>
          <p:cNvSpPr/>
          <p:nvPr/>
        </p:nvSpPr>
        <p:spPr>
          <a:xfrm>
            <a:off x="9372600" y="195120"/>
            <a:ext cx="274284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600" spc="-1" strike="noStrike">
                <a:solidFill>
                  <a:srgbClr val="c44e52"/>
                </a:solidFill>
                <a:latin typeface="Calibri"/>
              </a:rPr>
              <a:t>r_pb = 0,923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6b7784"/>
                </a:solidFill>
                <a:latin typeface="Calibri"/>
              </a:rPr>
              <a:t>contra el objetivo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6400800" y="237600"/>
            <a:ext cx="2742840" cy="68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400" spc="-1" strike="noStrike">
                <a:solidFill>
                  <a:srgbClr val="1f2933"/>
                </a:solidFill>
                <a:latin typeface="Calibri"/>
              </a:rPr>
              <a:t>62,67 – 63,81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6b7784"/>
                </a:solidFill>
                <a:latin typeface="Calibri"/>
              </a:rPr>
              <a:t>franja sin ningún crédito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PUNTAJE_DATACREDITO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Picture 2" descr="19_bureau_score_by_outcome.png"/>
          <p:cNvPicPr/>
          <p:nvPr/>
        </p:nvPicPr>
        <p:blipFill>
          <a:blip r:embed="rId1"/>
          <a:stretch/>
        </p:blipFill>
        <p:spPr>
          <a:xfrm>
            <a:off x="0" y="4267800"/>
            <a:ext cx="4800600" cy="2590200"/>
          </a:xfrm>
          <a:prstGeom prst="rect">
            <a:avLst/>
          </a:prstGeom>
          <a:ln w="0">
            <a:noFill/>
          </a:ln>
        </p:spPr>
      </p:pic>
      <p:pic>
        <p:nvPicPr>
          <p:cNvPr id="87" name="Picture 3" descr="04_bureau_score_default_by_band.png"/>
          <p:cNvPicPr/>
          <p:nvPr/>
        </p:nvPicPr>
        <p:blipFill>
          <a:blip r:embed="rId2"/>
          <a:stretch/>
        </p:blipFill>
        <p:spPr>
          <a:xfrm>
            <a:off x="4114800" y="8280"/>
            <a:ext cx="8076960" cy="4363200"/>
          </a:xfrm>
          <a:prstGeom prst="rect">
            <a:avLst/>
          </a:prstGeom>
          <a:ln w="0">
            <a:noFill/>
          </a:ln>
        </p:spPr>
      </p:pic>
      <p:sp>
        <p:nvSpPr>
          <p:cNvPr id="88" name="Rectangle 4"/>
          <p:cNvSpPr/>
          <p:nvPr/>
        </p:nvSpPr>
        <p:spPr>
          <a:xfrm>
            <a:off x="4846680" y="6172200"/>
            <a:ext cx="7345080" cy="685800"/>
          </a:xfrm>
          <a:prstGeom prst="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164520" rIns="1645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Distribución por resultado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360" y="1143000"/>
            <a:ext cx="4114440" cy="685440"/>
          </a:xfrm>
          <a:prstGeom prst="rect">
            <a:avLst/>
          </a:prstGeom>
          <a:solidFill>
            <a:srgbClr val="3f8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164520" rIns="1645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Incumplimiento por segmento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PUNTAJE CONTRA PUNTAJE_DATACREDITO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2" descr="18_two_scores_against_each_other.png"/>
          <p:cNvPicPr/>
          <p:nvPr/>
        </p:nvPicPr>
        <p:blipFill>
          <a:blip r:embed="rId1"/>
          <a:stretch/>
        </p:blipFill>
        <p:spPr>
          <a:xfrm>
            <a:off x="0" y="613080"/>
            <a:ext cx="9829800" cy="624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CORRELACIÓN LINEAL FRENTE A MONOTÓNICA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3" name="Table 2"/>
          <p:cNvGraphicFramePr/>
          <p:nvPr/>
        </p:nvGraphicFramePr>
        <p:xfrm>
          <a:off x="0" y="1371600"/>
          <a:ext cx="12191760" cy="3657600"/>
        </p:xfrm>
        <a:graphic>
          <a:graphicData uri="http://schemas.openxmlformats.org/drawingml/2006/table">
            <a:tbl>
              <a:tblPr/>
              <a:tblGrid>
                <a:gridCol w="6130440"/>
                <a:gridCol w="1977120"/>
                <a:gridCol w="1977120"/>
                <a:gridCol w="2107080"/>
              </a:tblGrid>
              <a:tr h="9144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Par de variables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 (lineal)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rho (rangos)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Diferencia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9144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salario_cliente × saldo_total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0,005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0,445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0,441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9144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total_otros_prestamos × saldo_total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0,083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0,444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0,361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9144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salario_cliente × cuota_pactada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0,052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0,393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0,341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360" y="18468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SALDOS DENOMINADOS EN MILES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2" descr="10_units_thousands_of_pesos.png"/>
          <p:cNvPicPr/>
          <p:nvPr/>
        </p:nvPicPr>
        <p:blipFill>
          <a:blip r:embed="rId1"/>
          <a:stretch/>
        </p:blipFill>
        <p:spPr>
          <a:xfrm>
            <a:off x="360" y="457560"/>
            <a:ext cx="10149480" cy="5486040"/>
          </a:xfrm>
          <a:prstGeom prst="rect">
            <a:avLst/>
          </a:prstGeom>
          <a:ln w="0">
            <a:noFill/>
          </a:ln>
        </p:spPr>
      </p:pic>
      <p:sp>
        <p:nvSpPr>
          <p:cNvPr id="96" name="Rectangle 3"/>
          <p:cNvSpPr/>
          <p:nvPr/>
        </p:nvSpPr>
        <p:spPr>
          <a:xfrm>
            <a:off x="0" y="6172560"/>
            <a:ext cx="8991360" cy="685440"/>
          </a:xfrm>
          <a:prstGeom prst="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164520" rIns="16452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* muestra de 402 clientes con una sola obligación abierta donde el capital prestado deberia ser igual al saldo total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97" name="Table 4"/>
          <p:cNvGraphicFramePr/>
          <p:nvPr/>
        </p:nvGraphicFramePr>
        <p:xfrm>
          <a:off x="9269280" y="4316400"/>
          <a:ext cx="2863440" cy="2508120"/>
        </p:xfrm>
        <a:graphic>
          <a:graphicData uri="http://schemas.openxmlformats.org/drawingml/2006/table">
            <a:tbl>
              <a:tblPr/>
              <a:tblGrid>
                <a:gridCol w="1163520"/>
                <a:gridCol w="895320"/>
                <a:gridCol w="804960"/>
              </a:tblGrid>
              <a:tr h="475200">
                <a:tc>
                  <a:txBody>
                    <a:bodyPr lIns="54720" rIns="54720" tIns="18000" bIns="18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Como viene</a:t>
                      </a:r>
                      <a:endParaRPr b="0" lang="en-US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Corregida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752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Deuda total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16.178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16,2 M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752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Múltiplo del salario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0,005×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5,4×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752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Saldo por cuenta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3.305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3,3 M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752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Mora mediana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236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algn="r" defTabSz="457200">
                        <a:lnSpc>
                          <a:spcPct val="100000"/>
                        </a:lnSpc>
                      </a:pPr>
                      <a:r>
                        <a:rPr b="0" lang="en-US" sz="13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236.000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CARGA FINANCIERA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Picture 2" descr="12_debt_service_does_not_predict.png"/>
          <p:cNvPicPr/>
          <p:nvPr/>
        </p:nvPicPr>
        <p:blipFill>
          <a:blip r:embed="rId1"/>
          <a:stretch/>
        </p:blipFill>
        <p:spPr>
          <a:xfrm>
            <a:off x="228600" y="564120"/>
            <a:ext cx="11658600" cy="6293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MORA YA REPORTADA EN DATACRÉDITO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2" descr="13_arrears_default_rate.png"/>
          <p:cNvPicPr/>
          <p:nvPr/>
        </p:nvPicPr>
        <p:blipFill>
          <a:blip r:embed="rId1"/>
          <a:stretch/>
        </p:blipFill>
        <p:spPr>
          <a:xfrm>
            <a:off x="0" y="650520"/>
            <a:ext cx="9829800" cy="6167880"/>
          </a:xfrm>
          <a:prstGeom prst="rect">
            <a:avLst/>
          </a:prstGeom>
          <a:ln w="0">
            <a:noFill/>
          </a:ln>
        </p:spPr>
      </p:pic>
      <p:sp>
        <p:nvSpPr>
          <p:cNvPr id="102" name="TextBox 4"/>
          <p:cNvSpPr/>
          <p:nvPr/>
        </p:nvSpPr>
        <p:spPr>
          <a:xfrm>
            <a:off x="10058400" y="2286000"/>
            <a:ext cx="2057400" cy="87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600" spc="-1" strike="noStrike">
                <a:solidFill>
                  <a:srgbClr val="c44e52"/>
                </a:solidFill>
                <a:latin typeface="Calibri"/>
              </a:rPr>
              <a:t>36,4%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b7784"/>
                </a:solidFill>
                <a:latin typeface="Calibri"/>
              </a:rPr>
              <a:t>con mora previa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10104480" y="3386520"/>
            <a:ext cx="1782720" cy="87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600" spc="-1" strike="noStrike">
                <a:solidFill>
                  <a:srgbClr val="1f2933"/>
                </a:solidFill>
                <a:latin typeface="Calibri"/>
              </a:rPr>
              <a:t>7,7×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b7784"/>
                </a:solidFill>
                <a:latin typeface="Calibri"/>
              </a:rPr>
              <a:t>la tasa de la cartera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INTENSIDAD DE CONSULTA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Picture 2" descr="15_inquiry_intensity_deciles.png"/>
          <p:cNvPicPr/>
          <p:nvPr/>
        </p:nvPicPr>
        <p:blipFill>
          <a:blip r:embed="rId1"/>
          <a:stretch/>
        </p:blipFill>
        <p:spPr>
          <a:xfrm>
            <a:off x="0" y="685800"/>
            <a:ext cx="11510280" cy="6172200"/>
          </a:xfrm>
          <a:prstGeom prst="rect">
            <a:avLst/>
          </a:prstGeom>
          <a:ln w="0">
            <a:noFill/>
          </a:ln>
        </p:spPr>
      </p:pic>
      <p:sp>
        <p:nvSpPr>
          <p:cNvPr id="106" name="TextBox 5"/>
          <p:cNvSpPr/>
          <p:nvPr/>
        </p:nvSpPr>
        <p:spPr>
          <a:xfrm>
            <a:off x="9372600" y="73080"/>
            <a:ext cx="2742840" cy="8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200" spc="-1" strike="noStrike">
                <a:solidFill>
                  <a:srgbClr val="2f6fb5"/>
                </a:solidFill>
                <a:latin typeface="Calibri"/>
              </a:rPr>
              <a:t>rho = −0,18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6b7784"/>
                </a:solidFill>
                <a:latin typeface="Calibri"/>
              </a:rPr>
              <a:t>contra el score de Datacredito Experian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SEÑALES COMBINADAS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Picture 2" descr="16_combined_signal_risk_bands.png"/>
          <p:cNvPicPr/>
          <p:nvPr/>
        </p:nvPicPr>
        <p:blipFill>
          <a:blip r:embed="rId1"/>
          <a:stretch/>
        </p:blipFill>
        <p:spPr>
          <a:xfrm>
            <a:off x="46080" y="3429000"/>
            <a:ext cx="6394680" cy="3429000"/>
          </a:xfrm>
          <a:prstGeom prst="rect">
            <a:avLst/>
          </a:prstGeom>
          <a:ln w="0">
            <a:noFill/>
          </a:ln>
        </p:spPr>
      </p:pic>
      <p:pic>
        <p:nvPicPr>
          <p:cNvPr id="109" name="Picture 3" descr="17_review_queue_capture_curve.png"/>
          <p:cNvPicPr/>
          <p:nvPr/>
        </p:nvPicPr>
        <p:blipFill>
          <a:blip r:embed="rId2"/>
          <a:stretch/>
        </p:blipFill>
        <p:spPr>
          <a:xfrm>
            <a:off x="6521040" y="0"/>
            <a:ext cx="5670720" cy="365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VARIABLES REMOVIDAS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1" name="Table 2"/>
          <p:cNvGraphicFramePr/>
          <p:nvPr/>
        </p:nvGraphicFramePr>
        <p:xfrm>
          <a:off x="457200" y="1371600"/>
          <a:ext cx="11274120" cy="292572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776400"/>
              </a:tblGrid>
              <a:tr h="5850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Motivo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Evidencia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5850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puntaje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Fuga de la variable objetivo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r_pb = 0,923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850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saldo_mora_codeudor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Sin informacion útil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3 no nulos en 10.173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850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saldo_principal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Redundante con saldo_total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rho = 0,946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85000"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onsolas"/>
                        </a:rPr>
                        <a:t>n_reglas_violadas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Derivada contaminada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54720" rIns="54720" tIns="18000" bIns="18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−</a:t>
                      </a:r>
                      <a:r>
                        <a:rPr b="0" lang="en-US" sz="15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0,287 → −0,008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LIMITACIONES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2"/>
          <p:cNvSpPr/>
          <p:nvPr/>
        </p:nvSpPr>
        <p:spPr>
          <a:xfrm>
            <a:off x="457200" y="1554480"/>
            <a:ext cx="118440" cy="1051200"/>
          </a:xfrm>
          <a:prstGeom prst="rect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822960" y="1554480"/>
            <a:ext cx="108810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000" spc="-1" strike="noStrike">
                <a:solidFill>
                  <a:srgbClr val="2f6fb5"/>
                </a:solidFill>
                <a:latin typeface="Calibri"/>
              </a:rPr>
              <a:t>Población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6b7784"/>
                </a:solidFill>
                <a:latin typeface="Calibri"/>
              </a:rPr>
              <a:t>Segmento pre-filtrado y con alta experiencia crediticia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4"/>
          <p:cNvSpPr/>
          <p:nvPr/>
        </p:nvSpPr>
        <p:spPr>
          <a:xfrm>
            <a:off x="457200" y="3017520"/>
            <a:ext cx="118440" cy="1051200"/>
          </a:xfrm>
          <a:prstGeom prst="rect">
            <a:avLst/>
          </a:prstGeom>
          <a:solidFill>
            <a:srgbClr val="1f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822960" y="3017520"/>
            <a:ext cx="108810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000" spc="-1" strike="noStrike">
                <a:solidFill>
                  <a:srgbClr val="1f2933"/>
                </a:solidFill>
                <a:latin typeface="Calibri"/>
              </a:rPr>
              <a:t>Sectores incompletos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6b7784"/>
                </a:solidFill>
                <a:latin typeface="Calibri"/>
              </a:rPr>
              <a:t>Falta un cuarto sector del buró en el 71% de las filas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 6"/>
          <p:cNvSpPr/>
          <p:nvPr/>
        </p:nvSpPr>
        <p:spPr>
          <a:xfrm>
            <a:off x="457200" y="4480560"/>
            <a:ext cx="118440" cy="1051200"/>
          </a:xfrm>
          <a:prstGeom prst="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822960" y="4480560"/>
            <a:ext cx="108810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000" spc="-1" strike="noStrike">
                <a:solidFill>
                  <a:srgbClr val="c44e52"/>
                </a:solidFill>
                <a:latin typeface="Calibri"/>
              </a:rPr>
              <a:t>Definición de la etiqueta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6b7784"/>
                </a:solidFill>
                <a:latin typeface="Calibri"/>
              </a:rPr>
              <a:t>Se desconoce cuándo queda fija Pago_atiempo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384120" y="237600"/>
            <a:ext cx="1142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6b7784"/>
                </a:solidFill>
                <a:latin typeface="Calibri"/>
              </a:rPr>
              <a:t>CONCLUSIONES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548640" y="1645920"/>
            <a:ext cx="7311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2f6fb5"/>
                </a:solidFill>
                <a:latin typeface="Calibri"/>
              </a:rPr>
              <a:t>1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1371600" y="1875240"/>
            <a:ext cx="103323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f2933"/>
                </a:solidFill>
                <a:latin typeface="Calibri"/>
              </a:rPr>
              <a:t>puntaje es potencialmente fuga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548640" y="2926080"/>
            <a:ext cx="7311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2f6fb5"/>
                </a:solidFill>
                <a:latin typeface="Calibri"/>
              </a:rPr>
              <a:t>2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1371600" y="3155400"/>
            <a:ext cx="103323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f2933"/>
                </a:solidFill>
                <a:latin typeface="Calibri"/>
              </a:rPr>
              <a:t>Los saldos venían en miles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548640" y="4206240"/>
            <a:ext cx="7311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2f6fb5"/>
                </a:solidFill>
                <a:latin typeface="Calibri"/>
              </a:rPr>
              <a:t>3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1371600" y="4435560"/>
            <a:ext cx="103323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1f2933"/>
                </a:solidFill>
                <a:latin typeface="Calibri"/>
              </a:rPr>
              <a:t>Las señales limpias combinadas alcanzan el 38%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2026-08-19T06:05:10Z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